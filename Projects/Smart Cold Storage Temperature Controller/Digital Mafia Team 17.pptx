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56" r:id="rId1"/>
  </p:sldMasterIdLst>
  <p:sldIdLst>
    <p:sldId id="284" r:id="rId2"/>
    <p:sldId id="278" r:id="rId3"/>
    <p:sldId id="309" r:id="rId4"/>
    <p:sldId id="258" r:id="rId5"/>
    <p:sldId id="310" r:id="rId6"/>
    <p:sldId id="313" r:id="rId7"/>
    <p:sldId id="311" r:id="rId8"/>
    <p:sldId id="314" r:id="rId9"/>
    <p:sldId id="315" r:id="rId10"/>
    <p:sldId id="318" r:id="rId11"/>
    <p:sldId id="320" r:id="rId12"/>
    <p:sldId id="319" r:id="rId13"/>
    <p:sldId id="307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15E8D6F9-C98C-4E50-95C7-F8B062522470}" type="datetimeFigureOut">
              <a:rPr lang="en-US" smtClean="0"/>
              <a:t>3/14/2026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FEA54C0B-9D69-4B28-A06D-622D0D725A9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26192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8D6F9-C98C-4E50-95C7-F8B062522470}" type="datetimeFigureOut">
              <a:rPr lang="en-US" smtClean="0"/>
              <a:t>3/14/2026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54C0B-9D69-4B28-A06D-622D0D725A9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2432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8D6F9-C98C-4E50-95C7-F8B062522470}" type="datetimeFigureOut">
              <a:rPr lang="en-US" smtClean="0"/>
              <a:t>3/14/2026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54C0B-9D69-4B28-A06D-622D0D725A9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036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8D6F9-C98C-4E50-95C7-F8B062522470}" type="datetimeFigureOut">
              <a:rPr lang="en-US" smtClean="0"/>
              <a:t>3/14/2026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54C0B-9D69-4B28-A06D-622D0D725A9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00018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8D6F9-C98C-4E50-95C7-F8B062522470}" type="datetimeFigureOut">
              <a:rPr lang="en-US" smtClean="0"/>
              <a:t>3/14/2026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54C0B-9D69-4B28-A06D-622D0D725A9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6239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8D6F9-C98C-4E50-95C7-F8B062522470}" type="datetimeFigureOut">
              <a:rPr lang="en-US" smtClean="0"/>
              <a:t>3/14/2026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54C0B-9D69-4B28-A06D-622D0D725A9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64699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8D6F9-C98C-4E50-95C7-F8B062522470}" type="datetimeFigureOut">
              <a:rPr lang="en-US" smtClean="0"/>
              <a:t>3/14/2026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54C0B-9D69-4B28-A06D-622D0D725A9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1902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8D6F9-C98C-4E50-95C7-F8B062522470}" type="datetimeFigureOut">
              <a:rPr lang="en-US" smtClean="0"/>
              <a:t>3/14/2026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FEA54C0B-9D69-4B28-A06D-622D0D725A9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792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15E8D6F9-C98C-4E50-95C7-F8B062522470}" type="datetimeFigureOut">
              <a:rPr lang="en-US" smtClean="0"/>
              <a:t>3/14/2026</a:t>
            </a:fld>
            <a:endParaRPr lang="en-US" dirty="0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FEA54C0B-9D69-4B28-A06D-622D0D725A9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65122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8D6F9-C98C-4E50-95C7-F8B062522470}" type="datetimeFigureOut">
              <a:rPr lang="en-US" smtClean="0"/>
              <a:t>3/14/2026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54C0B-9D69-4B28-A06D-622D0D725A9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83804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8D6F9-C98C-4E50-95C7-F8B062522470}" type="datetimeFigureOut">
              <a:rPr lang="en-US" smtClean="0"/>
              <a:t>3/14/2026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54C0B-9D69-4B28-A06D-622D0D725A9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21734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15E8D6F9-C98C-4E50-95C7-F8B062522470}" type="datetimeFigureOut">
              <a:rPr lang="en-US" smtClean="0"/>
              <a:t>3/14/2026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accent1">
                    <a:alpha val="25000"/>
                  </a:schemeClr>
                </a:solidFill>
                <a:latin typeface="+mj-lt"/>
              </a:defRPr>
            </a:lvl1pPr>
          </a:lstStyle>
          <a:p>
            <a:fld id="{FEA54C0B-9D69-4B28-A06D-622D0D725A9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087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57" r:id="rId1"/>
    <p:sldLayoutId id="2147484158" r:id="rId2"/>
    <p:sldLayoutId id="2147484159" r:id="rId3"/>
    <p:sldLayoutId id="2147484160" r:id="rId4"/>
    <p:sldLayoutId id="2147484161" r:id="rId5"/>
    <p:sldLayoutId id="2147484162" r:id="rId6"/>
    <p:sldLayoutId id="2147484163" r:id="rId7"/>
    <p:sldLayoutId id="2147484164" r:id="rId8"/>
    <p:sldLayoutId id="2147484165" r:id="rId9"/>
    <p:sldLayoutId id="2147484166" r:id="rId10"/>
    <p:sldLayoutId id="2147484167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347472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A8981A-B285-4DB1-BEB4-71E7E6428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8800" y="2542230"/>
            <a:ext cx="10515600" cy="998375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Smart Cold Storage Temperature Controller</a:t>
            </a:r>
            <a:br>
              <a:rPr lang="en-US" sz="36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br>
              <a:rPr lang="en-US" sz="36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Team 17: Digital Mafia</a:t>
            </a:r>
            <a:endParaRPr lang="en-US" sz="3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559AB63-BDF7-45B5-9C4D-7AF47C73F2D0}"/>
              </a:ext>
            </a:extLst>
          </p:cNvPr>
          <p:cNvSpPr txBox="1">
            <a:spLocks/>
          </p:cNvSpPr>
          <p:nvPr/>
        </p:nvSpPr>
        <p:spPr>
          <a:xfrm>
            <a:off x="760384" y="145000"/>
            <a:ext cx="10832432" cy="15872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endParaRPr lang="en-US" sz="3500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48D64D4-A09A-488D-8429-2C4427755356}"/>
              </a:ext>
            </a:extLst>
          </p:cNvPr>
          <p:cNvSpPr txBox="1">
            <a:spLocks/>
          </p:cNvSpPr>
          <p:nvPr/>
        </p:nvSpPr>
        <p:spPr>
          <a:xfrm>
            <a:off x="9326255" y="4350603"/>
            <a:ext cx="4533122" cy="2007834"/>
          </a:xfrm>
          <a:prstGeom prst="rect">
            <a:avLst/>
          </a:prstGeom>
        </p:spPr>
        <p:txBody>
          <a:bodyPr vert="horz" lIns="91440" tIns="45720" rIns="91440" bIns="45720" numCol="2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lnSpc>
                <a:spcPct val="150000"/>
              </a:lnSpc>
            </a:pPr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  <a:br>
              <a:rPr lang="en-IN" sz="20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ABISHEK M V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GIRITHARAN D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NISANTH S</a:t>
            </a:r>
          </a:p>
        </p:txBody>
      </p:sp>
    </p:spTree>
    <p:extLst>
      <p:ext uri="{BB962C8B-B14F-4D97-AF65-F5344CB8AC3E}">
        <p14:creationId xmlns:p14="http://schemas.microsoft.com/office/powerpoint/2010/main" val="35873143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448" y="710652"/>
            <a:ext cx="11617091" cy="2816319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fontAlgn="base">
              <a:lnSpc>
                <a:spcPct val="150000"/>
              </a:lnSpc>
              <a:buNone/>
            </a:pP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4EF88FA-F708-8662-5C6C-B23403963B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199" y="369027"/>
            <a:ext cx="11391601" cy="6119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algn="just">
              <a:lnSpc>
                <a:spcPct val="150000"/>
              </a:lnSpc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Developing a controller that maintains safe temperature levels within a cold storage facility by activating cooling mechanisms when temperature exceeds specified limits.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Features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Temperature monitoring</a:t>
            </a: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Cooling activation logic</a:t>
            </a: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Hysteresis control</a:t>
            </a: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Temperature violation alert</a:t>
            </a: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Reset capability</a:t>
            </a:r>
          </a:p>
          <a:p>
            <a:pPr algn="just">
              <a:lnSpc>
                <a:spcPct val="150000"/>
              </a:lnSpc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8685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5277B5-E868-38AB-44D9-E1A30A62C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281" y="704806"/>
            <a:ext cx="10772775" cy="1658198"/>
          </a:xfrm>
        </p:spPr>
        <p:txBody>
          <a:bodyPr>
            <a:noAutofit/>
          </a:bodyPr>
          <a:lstStyle/>
          <a:p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b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400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186505-ADDE-7D74-E395-1954CF4CE427}"/>
              </a:ext>
            </a:extLst>
          </p:cNvPr>
          <p:cNvSpPr txBox="1"/>
          <p:nvPr/>
        </p:nvSpPr>
        <p:spPr>
          <a:xfrm>
            <a:off x="461281" y="1371600"/>
            <a:ext cx="10995318" cy="4708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Approach: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Window FSM Multi Level Temperature Controller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Designing a digital temperature controller using Verilog, it,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Monitors the temperature inside the cold storage continuously.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Activates cooling automatically when temperature exceeds limits.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 hysteresis (window control) to prevent frequent ON/OFF switching.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 multi-level cooling for better energy efficiency.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 temperature violation alerts if the temperature exceeds a critical threshold.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 reset capability to clear alerts and return the system to normal monitoring.</a:t>
            </a:r>
          </a:p>
          <a:p>
            <a:pPr algn="just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7192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4D29722-CCAA-808B-9ACF-C0742BEE2D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152" y="634481"/>
            <a:ext cx="11122089" cy="5589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75984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21813-3819-2271-CB32-4BB03F1BC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018" y="-391953"/>
            <a:ext cx="10772775" cy="1658198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RTL CODING</a:t>
            </a:r>
            <a:endParaRPr lang="en-I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F6D2EC-6E55-7122-5D85-4A13C8CA17D4}"/>
              </a:ext>
            </a:extLst>
          </p:cNvPr>
          <p:cNvSpPr txBox="1"/>
          <p:nvPr/>
        </p:nvSpPr>
        <p:spPr>
          <a:xfrm>
            <a:off x="979743" y="687375"/>
            <a:ext cx="1317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window.v</a:t>
            </a:r>
            <a:endParaRPr lang="en-IN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9F1386-3BA4-E991-1310-72DEA6FA94AE}"/>
              </a:ext>
            </a:extLst>
          </p:cNvPr>
          <p:cNvSpPr txBox="1"/>
          <p:nvPr/>
        </p:nvSpPr>
        <p:spPr>
          <a:xfrm>
            <a:off x="606519" y="1168273"/>
            <a:ext cx="3107065" cy="5478423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`timescale 1ns / 1ps</a:t>
            </a: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window(</a:t>
            </a: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input  [7:0] temp,</a:t>
            </a: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output reg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below_lower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output reg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above_upper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output reg critical</a:t>
            </a: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 LOWER_LIMIT    = 8'd18;</a:t>
            </a: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 UPPER_LIMIT    = 8'd25;</a:t>
            </a: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 CRITICAL_LIMIT = 8'd35;</a:t>
            </a: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always @(*)</a:t>
            </a: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begin</a:t>
            </a: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below_lower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0;</a:t>
            </a: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above_upper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0;</a:t>
            </a: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critical    = 0;</a:t>
            </a: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if(temp &lt; LOWER_LIMIT)</a:t>
            </a: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below_lower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1;</a:t>
            </a: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else if(temp &gt; UPPER_LIMIT)</a:t>
            </a: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above_upper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1;</a:t>
            </a: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if(temp &gt; CRITICAL_LIMIT)</a:t>
            </a: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critical = 1;</a:t>
            </a: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endmodule</a:t>
            </a: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5B895FF-60FB-E7B5-F0CD-7EAD898BCEFD}"/>
              </a:ext>
            </a:extLst>
          </p:cNvPr>
          <p:cNvSpPr txBox="1"/>
          <p:nvPr/>
        </p:nvSpPr>
        <p:spPr>
          <a:xfrm>
            <a:off x="5166951" y="662874"/>
            <a:ext cx="9348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fsm.v</a:t>
            </a:r>
            <a:endParaRPr lang="en-IN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8B9099-8F38-5A9C-E2C3-A7E36C5AF712}"/>
              </a:ext>
            </a:extLst>
          </p:cNvPr>
          <p:cNvSpPr txBox="1"/>
          <p:nvPr/>
        </p:nvSpPr>
        <p:spPr>
          <a:xfrm>
            <a:off x="4774149" y="1178368"/>
            <a:ext cx="2466406" cy="5493812"/>
          </a:xfrm>
          <a:prstGeom prst="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wrap="square" rtlCol="0">
            <a:spAutoFit/>
          </a:bodyPr>
          <a:lstStyle/>
          <a:p>
            <a: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`timescale 1ns / 1ps</a:t>
            </a:r>
            <a:b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</a:t>
            </a:r>
            <a:r>
              <a:rPr lang="en-IN" sz="9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fsm</a:t>
            </a:r>
            <a: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b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input </a:t>
            </a:r>
            <a:r>
              <a:rPr lang="en-IN" sz="9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clk</a:t>
            </a:r>
            <a: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b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input reset,</a:t>
            </a:r>
            <a:b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input </a:t>
            </a:r>
            <a:r>
              <a:rPr lang="en-IN" sz="9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below_lower</a:t>
            </a:r>
            <a: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b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input </a:t>
            </a:r>
            <a:r>
              <a:rPr lang="en-IN" sz="9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above_upper</a:t>
            </a:r>
            <a: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b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input critical,</a:t>
            </a:r>
            <a:b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output reg [1:0] state</a:t>
            </a:r>
            <a:b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b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parameter MONITOR = 2'b00;</a:t>
            </a:r>
            <a:b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parameter COOLING = 2'b01;</a:t>
            </a:r>
            <a:b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parameter ALERT   = 2'b10;</a:t>
            </a:r>
            <a:b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 [1:0] </a:t>
            </a:r>
            <a:r>
              <a:rPr lang="en-IN" sz="9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next_state</a:t>
            </a:r>
            <a: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b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always @(posedge </a:t>
            </a:r>
            <a:r>
              <a:rPr lang="en-IN" sz="9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clk</a:t>
            </a:r>
            <a: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IN" sz="9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posedge</a:t>
            </a:r>
            <a: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reset)</a:t>
            </a:r>
            <a:b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begin</a:t>
            </a:r>
            <a:b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if(reset)</a:t>
            </a:r>
            <a:b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    state &lt;= MONITOR;</a:t>
            </a:r>
            <a:b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else</a:t>
            </a:r>
            <a:b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    state &lt;= </a:t>
            </a:r>
            <a:r>
              <a:rPr lang="en-IN" sz="9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next_state</a:t>
            </a:r>
            <a: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b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b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always @(*)</a:t>
            </a:r>
            <a:b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begin</a:t>
            </a:r>
            <a:b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case(state)</a:t>
            </a:r>
            <a:b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MONITOR:</a:t>
            </a:r>
            <a:b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begin</a:t>
            </a:r>
            <a:b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if(</a:t>
            </a:r>
            <a:r>
              <a:rPr lang="en-IN" sz="9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above_upper</a:t>
            </a:r>
            <a: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b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IN" sz="9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next_state</a:t>
            </a:r>
            <a: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COOLING;</a:t>
            </a:r>
            <a:b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else</a:t>
            </a:r>
            <a:b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IN" sz="9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next_state</a:t>
            </a:r>
            <a: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MONITOR;</a:t>
            </a:r>
            <a:b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b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COOLING:</a:t>
            </a:r>
            <a:b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begin</a:t>
            </a:r>
            <a:b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if(critical)</a:t>
            </a:r>
            <a:b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IN" sz="9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next_state</a:t>
            </a:r>
            <a: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ALERT;</a:t>
            </a:r>
            <a:b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else if(</a:t>
            </a:r>
            <a:r>
              <a:rPr lang="en-IN" sz="9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below_lower</a:t>
            </a:r>
            <a: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b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IN" sz="9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next_state</a:t>
            </a:r>
            <a: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MONITOR;</a:t>
            </a:r>
            <a:b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else</a:t>
            </a:r>
            <a:b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IN" sz="9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next_state</a:t>
            </a:r>
            <a: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COOLING;</a:t>
            </a:r>
            <a:b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2559D39-8A0B-B80D-7298-0252939E44D2}"/>
              </a:ext>
            </a:extLst>
          </p:cNvPr>
          <p:cNvSpPr txBox="1"/>
          <p:nvPr/>
        </p:nvSpPr>
        <p:spPr>
          <a:xfrm>
            <a:off x="8808069" y="1168273"/>
            <a:ext cx="2777412" cy="2708434"/>
          </a:xfrm>
          <a:prstGeom prst="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wrap="square" rtlCol="0">
            <a:spAutoFit/>
          </a:bodyPr>
          <a:lstStyle/>
          <a:p>
            <a:r>
              <a:rPr lang="en-I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ALERT:</a:t>
            </a:r>
            <a:br>
              <a:rPr lang="en-I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begin</a:t>
            </a:r>
            <a:br>
              <a:rPr lang="en-I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if(reset)</a:t>
            </a:r>
            <a:br>
              <a:rPr lang="en-I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IN" sz="1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next_state</a:t>
            </a:r>
            <a:r>
              <a:rPr lang="en-I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MONITOR;</a:t>
            </a:r>
            <a:br>
              <a:rPr lang="en-I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else</a:t>
            </a:r>
            <a:br>
              <a:rPr lang="en-I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IN" sz="1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next_state</a:t>
            </a:r>
            <a:r>
              <a:rPr lang="en-I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ALERT;</a:t>
            </a:r>
            <a:br>
              <a:rPr lang="en-I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br>
              <a:rPr lang="en-I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default:</a:t>
            </a:r>
            <a:br>
              <a:rPr lang="en-I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IN" sz="1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next_state</a:t>
            </a:r>
            <a:r>
              <a:rPr lang="en-I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MONITOR;</a:t>
            </a:r>
            <a:br>
              <a:rPr lang="en-I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endcase</a:t>
            </a:r>
            <a:br>
              <a:rPr lang="en-I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br>
              <a:rPr lang="en-I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endmodule</a:t>
            </a:r>
            <a:endParaRPr lang="en-IN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br>
              <a:rPr lang="en-I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14999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481EDA-E123-BF0D-9FD0-4F4E99EB0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42DEA-E567-4D90-FBF8-D4F5E32AD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629" y="-491871"/>
            <a:ext cx="10772775" cy="1658198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RTL CODING(</a:t>
            </a:r>
            <a:r>
              <a:rPr lang="en-US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and SIMULATION</a:t>
            </a:r>
            <a:endParaRPr lang="en-I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7B8F61-B676-523D-8319-FE3CB3EFAEB8}"/>
              </a:ext>
            </a:extLst>
          </p:cNvPr>
          <p:cNvSpPr txBox="1"/>
          <p:nvPr/>
        </p:nvSpPr>
        <p:spPr>
          <a:xfrm>
            <a:off x="686742" y="796995"/>
            <a:ext cx="16145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monitoring.v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E9F455-D57F-FD5B-0891-8CC95952959E}"/>
              </a:ext>
            </a:extLst>
          </p:cNvPr>
          <p:cNvSpPr txBox="1"/>
          <p:nvPr/>
        </p:nvSpPr>
        <p:spPr>
          <a:xfrm>
            <a:off x="686742" y="1166327"/>
            <a:ext cx="1978061" cy="5016758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`timescale 1ns / 1ps</a:t>
            </a:r>
            <a:b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</a:t>
            </a:r>
            <a:r>
              <a:rPr lang="en-I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multicooling</a:t>
            </a: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b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input [7:0] temp,</a:t>
            </a:r>
            <a:b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input [1:0] state,</a:t>
            </a:r>
            <a:b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output reg [1:0] </a:t>
            </a:r>
            <a:r>
              <a:rPr lang="en-I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cooling_level</a:t>
            </a:r>
            <a:b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b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 MONITOR = 2'b00;</a:t>
            </a:r>
            <a:b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 COOLING = 2'b01;</a:t>
            </a:r>
            <a:b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 ALERT   = 2'b10;</a:t>
            </a:r>
            <a:b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always @(*)</a:t>
            </a:r>
            <a:b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begin</a:t>
            </a:r>
            <a:b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cooling_level</a:t>
            </a: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2'b00;</a:t>
            </a:r>
            <a:b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case(state)</a:t>
            </a:r>
            <a:b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MONITOR:</a:t>
            </a:r>
            <a:b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cooling_level</a:t>
            </a: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2'b00;</a:t>
            </a:r>
            <a:b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COOLING:</a:t>
            </a:r>
            <a:b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begin</a:t>
            </a:r>
            <a:b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if(temp &gt;= 25 &amp;&amp; temp &lt; 28)</a:t>
            </a:r>
            <a:b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I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cooling_level</a:t>
            </a: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2'b01;</a:t>
            </a:r>
            <a:b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else if(temp &gt;= 28 &amp;&amp; temp &lt; 32)</a:t>
            </a:r>
            <a:b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I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cooling_level</a:t>
            </a: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2'b10;</a:t>
            </a:r>
            <a:b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else if(temp &gt;= 32)</a:t>
            </a:r>
            <a:b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I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cooling_level</a:t>
            </a: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2'b11;</a:t>
            </a:r>
            <a:b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b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ALERT:</a:t>
            </a:r>
            <a:b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cooling_level</a:t>
            </a: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2'b11;</a:t>
            </a:r>
            <a:b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endcase</a:t>
            </a:r>
            <a:b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b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endmodule</a:t>
            </a:r>
            <a:b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2DAFFB-527D-AADF-3CD1-FAE9E27BA10B}"/>
              </a:ext>
            </a:extLst>
          </p:cNvPr>
          <p:cNvSpPr txBox="1"/>
          <p:nvPr/>
        </p:nvSpPr>
        <p:spPr>
          <a:xfrm>
            <a:off x="5166951" y="662874"/>
            <a:ext cx="1576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topmodule.v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73CE8D-7320-7F9C-816B-E3D7819FC08E}"/>
              </a:ext>
            </a:extLst>
          </p:cNvPr>
          <p:cNvSpPr txBox="1"/>
          <p:nvPr/>
        </p:nvSpPr>
        <p:spPr>
          <a:xfrm>
            <a:off x="4965956" y="1032206"/>
            <a:ext cx="1978061" cy="5355312"/>
          </a:xfrm>
          <a:prstGeom prst="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wrap="square" rtlCol="0">
            <a:spAutoFit/>
          </a:bodyPr>
          <a:lstStyle/>
          <a:p>
            <a: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`timescale 1ns / 1ps</a:t>
            </a:r>
            <a:b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</a:t>
            </a:r>
            <a:r>
              <a:rPr lang="en-IN" sz="9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topmodule</a:t>
            </a:r>
            <a: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b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input </a:t>
            </a:r>
            <a:r>
              <a:rPr lang="en-IN" sz="9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clk</a:t>
            </a:r>
            <a: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b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input reset,</a:t>
            </a:r>
            <a:b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input [7:0] temp,</a:t>
            </a:r>
            <a:b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output [1:0] </a:t>
            </a:r>
            <a:r>
              <a:rPr lang="en-IN" sz="9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cooling_level</a:t>
            </a:r>
            <a: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b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output alert</a:t>
            </a:r>
            <a:b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b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wire </a:t>
            </a:r>
            <a:r>
              <a:rPr lang="en-IN" sz="9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below_lower</a:t>
            </a:r>
            <a: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b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wire </a:t>
            </a:r>
            <a:r>
              <a:rPr lang="en-IN" sz="9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above_upper</a:t>
            </a:r>
            <a: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b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wire critical;</a:t>
            </a:r>
            <a:b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wire [1:0] state;</a:t>
            </a:r>
            <a:b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parameter ALERT = 2'b10;</a:t>
            </a:r>
            <a:b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window w1(</a:t>
            </a:r>
            <a:b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.temp(temp),</a:t>
            </a:r>
            <a:b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.</a:t>
            </a:r>
            <a:r>
              <a:rPr lang="en-IN" sz="9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below_lower</a:t>
            </a:r>
            <a: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9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below_lower</a:t>
            </a:r>
            <a: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b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.</a:t>
            </a:r>
            <a:r>
              <a:rPr lang="en-IN" sz="9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above_upper</a:t>
            </a:r>
            <a: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9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above_upper</a:t>
            </a:r>
            <a: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b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.critical(critical)</a:t>
            </a:r>
            <a:b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b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9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fsm</a:t>
            </a:r>
            <a: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f1(</a:t>
            </a:r>
            <a:b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.</a:t>
            </a:r>
            <a:r>
              <a:rPr lang="en-IN" sz="9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clk</a:t>
            </a:r>
            <a: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9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clk</a:t>
            </a:r>
            <a: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b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.reset(reset),</a:t>
            </a:r>
            <a:b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.</a:t>
            </a:r>
            <a:r>
              <a:rPr lang="en-IN" sz="9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below_lower</a:t>
            </a:r>
            <a: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9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below_lower</a:t>
            </a:r>
            <a: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b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.</a:t>
            </a:r>
            <a:r>
              <a:rPr lang="en-IN" sz="9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above_upper</a:t>
            </a:r>
            <a: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9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above_upper</a:t>
            </a:r>
            <a: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b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.critical(critical),</a:t>
            </a:r>
            <a:b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.state(state)</a:t>
            </a:r>
            <a:b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b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9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multicooling</a:t>
            </a:r>
            <a: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m1(</a:t>
            </a:r>
            <a:b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.temp(temp),</a:t>
            </a:r>
            <a:b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.state(state),</a:t>
            </a:r>
            <a:b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.</a:t>
            </a:r>
            <a:r>
              <a:rPr lang="en-IN" sz="9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cooling_level</a:t>
            </a:r>
            <a: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9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cooling_level</a:t>
            </a:r>
            <a: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b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b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assign alert = (state == ALERT) &amp; (~reset);</a:t>
            </a:r>
            <a:b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9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endmodule</a:t>
            </a:r>
            <a:endParaRPr lang="en-IN" sz="9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D4DFAE6-BC73-29EA-3A3F-8CFDB933C0AF}"/>
              </a:ext>
            </a:extLst>
          </p:cNvPr>
          <p:cNvSpPr txBox="1"/>
          <p:nvPr/>
        </p:nvSpPr>
        <p:spPr>
          <a:xfrm>
            <a:off x="9158230" y="614276"/>
            <a:ext cx="12298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testbench.v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5D23041-1122-F293-427D-2065A9BFB225}"/>
              </a:ext>
            </a:extLst>
          </p:cNvPr>
          <p:cNvSpPr txBox="1"/>
          <p:nvPr/>
        </p:nvSpPr>
        <p:spPr>
          <a:xfrm>
            <a:off x="9031732" y="1032206"/>
            <a:ext cx="1978061" cy="5262979"/>
          </a:xfrm>
          <a:prstGeom prst="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wrap="square" rtlCol="0">
            <a:spAutoFit/>
          </a:bodyPr>
          <a:lstStyle/>
          <a:p>
            <a:r>
              <a:rPr lang="en-IN" sz="10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`timescale 1ns / 1ps</a:t>
            </a:r>
            <a:br>
              <a:rPr lang="en-IN" sz="10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0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testbench;</a:t>
            </a:r>
            <a:br>
              <a:rPr lang="en-IN" sz="10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0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 </a:t>
            </a:r>
            <a:r>
              <a:rPr lang="en-IN" sz="105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clk</a:t>
            </a:r>
            <a:r>
              <a:rPr lang="en-IN" sz="10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br>
              <a:rPr lang="en-IN" sz="10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0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 reset;</a:t>
            </a:r>
            <a:br>
              <a:rPr lang="en-IN" sz="10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0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 [7:0] temp;</a:t>
            </a:r>
            <a:br>
              <a:rPr lang="en-IN" sz="10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0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wire [1:0] </a:t>
            </a:r>
            <a:r>
              <a:rPr lang="en-IN" sz="105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cooling_level</a:t>
            </a:r>
            <a:r>
              <a:rPr lang="en-IN" sz="10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br>
              <a:rPr lang="en-IN" sz="10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0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wire alert;</a:t>
            </a:r>
            <a:br>
              <a:rPr lang="en-IN" sz="10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05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topmodule</a:t>
            </a:r>
            <a:r>
              <a:rPr lang="en-IN" sz="10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05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uut</a:t>
            </a:r>
            <a:r>
              <a:rPr lang="en-IN" sz="10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br>
              <a:rPr lang="en-IN" sz="10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0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.</a:t>
            </a:r>
            <a:r>
              <a:rPr lang="en-IN" sz="105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clk</a:t>
            </a:r>
            <a:r>
              <a:rPr lang="en-IN" sz="10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05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clk</a:t>
            </a:r>
            <a:r>
              <a:rPr lang="en-IN" sz="10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br>
              <a:rPr lang="en-IN" sz="10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0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.reset(reset),</a:t>
            </a:r>
            <a:br>
              <a:rPr lang="en-IN" sz="10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0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.temp(temp),</a:t>
            </a:r>
            <a:br>
              <a:rPr lang="en-IN" sz="10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0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.</a:t>
            </a:r>
            <a:r>
              <a:rPr lang="en-IN" sz="105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cooling_level</a:t>
            </a:r>
            <a:r>
              <a:rPr lang="en-IN" sz="10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05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cooling_level</a:t>
            </a:r>
            <a:r>
              <a:rPr lang="en-IN" sz="10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br>
              <a:rPr lang="en-IN" sz="10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0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.alert(alert)</a:t>
            </a:r>
            <a:br>
              <a:rPr lang="en-IN" sz="10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0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br>
              <a:rPr lang="en-IN" sz="10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0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always #5 </a:t>
            </a:r>
            <a:r>
              <a:rPr lang="en-IN" sz="105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clk</a:t>
            </a:r>
            <a:r>
              <a:rPr lang="en-IN" sz="10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~</a:t>
            </a:r>
            <a:r>
              <a:rPr lang="en-IN" sz="105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clk</a:t>
            </a:r>
            <a:r>
              <a:rPr lang="en-IN" sz="10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br>
              <a:rPr lang="en-IN" sz="10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0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initial</a:t>
            </a:r>
            <a:br>
              <a:rPr lang="en-IN" sz="10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0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begin</a:t>
            </a:r>
            <a:br>
              <a:rPr lang="en-IN" sz="10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05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clk</a:t>
            </a:r>
            <a:r>
              <a:rPr lang="en-IN" sz="10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0;</a:t>
            </a:r>
            <a:br>
              <a:rPr lang="en-IN" sz="10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0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reset = 1;</a:t>
            </a:r>
            <a:br>
              <a:rPr lang="en-IN" sz="10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0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temp = 20;</a:t>
            </a:r>
            <a:br>
              <a:rPr lang="en-IN" sz="10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0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#10 reset = 0;</a:t>
            </a:r>
            <a:br>
              <a:rPr lang="en-IN" sz="10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0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#20 temp = 22;</a:t>
            </a:r>
            <a:br>
              <a:rPr lang="en-IN" sz="10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0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#20 temp = 26;</a:t>
            </a:r>
            <a:br>
              <a:rPr lang="en-IN" sz="10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0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#20 temp = 30;</a:t>
            </a:r>
            <a:br>
              <a:rPr lang="en-IN" sz="10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0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#20 temp = 33;</a:t>
            </a:r>
            <a:br>
              <a:rPr lang="en-IN" sz="10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0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#20 temp = 36;</a:t>
            </a:r>
            <a:br>
              <a:rPr lang="en-IN" sz="10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0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#20 reset = 1;</a:t>
            </a:r>
            <a:br>
              <a:rPr lang="en-IN" sz="10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0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#10 reset = 0;</a:t>
            </a:r>
            <a:br>
              <a:rPr lang="en-IN" sz="10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0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#20 temp = 21;</a:t>
            </a:r>
            <a:br>
              <a:rPr lang="en-IN" sz="10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0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#50 $finish;</a:t>
            </a:r>
            <a:br>
              <a:rPr lang="en-IN" sz="10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0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br>
              <a:rPr lang="en-IN" sz="10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05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endmodule</a:t>
            </a:r>
            <a:endParaRPr lang="en-IN" sz="105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40442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3F8D477-8C94-14FA-5987-B0DB080AB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67" y="-279918"/>
            <a:ext cx="10772775" cy="1658198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SIMULATED WAVEFORMS</a:t>
            </a:r>
            <a:endParaRPr lang="en-I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4E1FB96-846B-214E-098E-3A4E9E658A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12653" r="918" b="49252"/>
          <a:stretch>
            <a:fillRect/>
          </a:stretch>
        </p:blipFill>
        <p:spPr>
          <a:xfrm>
            <a:off x="447869" y="-279918"/>
            <a:ext cx="11296261" cy="6430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23689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330573-F2B3-0823-85BB-5E1D086D7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FD53A90-3A2D-6F00-0894-C0FA9331D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14" y="-289249"/>
            <a:ext cx="10772775" cy="1658198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RTL SYNTHESIS</a:t>
            </a:r>
            <a:endParaRPr lang="en-I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4343DB4-3978-19A7-C5C4-E0267C3E1E99}"/>
              </a:ext>
            </a:extLst>
          </p:cNvPr>
          <p:cNvSpPr txBox="1"/>
          <p:nvPr/>
        </p:nvSpPr>
        <p:spPr>
          <a:xfrm>
            <a:off x="1558241" y="999617"/>
            <a:ext cx="2640535" cy="369332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SCHEMATIC VIEW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343DB4-3978-19A7-C5C4-E0267C3E1E99}"/>
              </a:ext>
            </a:extLst>
          </p:cNvPr>
          <p:cNvSpPr txBox="1"/>
          <p:nvPr/>
        </p:nvSpPr>
        <p:spPr>
          <a:xfrm>
            <a:off x="7887507" y="999617"/>
            <a:ext cx="2950582" cy="369332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GATE- LEVEL NETLIST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6D99D4A-E400-AB30-4914-329F30D7BE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55" t="15968" b="25602"/>
          <a:stretch>
            <a:fillRect/>
          </a:stretch>
        </p:blipFill>
        <p:spPr>
          <a:xfrm>
            <a:off x="429207" y="1775577"/>
            <a:ext cx="5411754" cy="358952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44CBA8C-2F26-B6F5-7D73-708B01295B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29" t="13023" b="10195"/>
          <a:stretch>
            <a:fillRect/>
          </a:stretch>
        </p:blipFill>
        <p:spPr>
          <a:xfrm>
            <a:off x="6727372" y="1775577"/>
            <a:ext cx="5035422" cy="3564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81940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5A9494-727E-6AD8-0B7B-AE00CCC3C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2BB5C25-9EF6-C63B-2FD8-FBB949A49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67" y="-279918"/>
            <a:ext cx="10772775" cy="1658198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lang="en-I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C60D133-AD68-5853-5001-9F5F8CD2D410}"/>
              </a:ext>
            </a:extLst>
          </p:cNvPr>
          <p:cNvSpPr txBox="1"/>
          <p:nvPr/>
        </p:nvSpPr>
        <p:spPr>
          <a:xfrm>
            <a:off x="4572030" y="680429"/>
            <a:ext cx="2640535" cy="369332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of power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C2E5E1D-85FC-75FE-89F3-76A33AFB42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418" y="1216146"/>
            <a:ext cx="10702212" cy="4961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5735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43CE63-8EFC-EDC1-3454-FFB67807F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AF77E49-60C8-EAEC-D1DE-DC03D11DD6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67" y="-279918"/>
            <a:ext cx="10772775" cy="1658198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lang="en-I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F78B9EC-80D3-E744-07D0-C047C88BFEE9}"/>
              </a:ext>
            </a:extLst>
          </p:cNvPr>
          <p:cNvSpPr txBox="1"/>
          <p:nvPr/>
        </p:nvSpPr>
        <p:spPr>
          <a:xfrm>
            <a:off x="4320103" y="549181"/>
            <a:ext cx="2640535" cy="369332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of area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750185-81B5-E848-6EE6-7B830A1D33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754" y="1201150"/>
            <a:ext cx="10512491" cy="5013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83125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1E2863-19E3-138E-6FA9-C700C607C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8FECD89-AFB6-F4AE-5B35-5A8D47E47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67" y="-279918"/>
            <a:ext cx="10772775" cy="1658198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OPTIMITATION</a:t>
            </a:r>
            <a:endParaRPr lang="en-I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EC652D93-3819-71DE-078E-EDA88AA0228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D7F95E1-B8FE-AC2E-DBBC-AD186D9643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616" y="1001292"/>
            <a:ext cx="10627567" cy="5399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92042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7ACF2B-28B9-1DD7-7110-3E8872B38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BB6691F-BA8B-521D-EE24-5A2E4A684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67" y="-279918"/>
            <a:ext cx="10772775" cy="1658198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 </a:t>
            </a:r>
            <a:endParaRPr lang="en-I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4A9F81-F192-FBB8-77E1-063C7436234F}"/>
              </a:ext>
            </a:extLst>
          </p:cNvPr>
          <p:cNvSpPr txBox="1"/>
          <p:nvPr/>
        </p:nvSpPr>
        <p:spPr>
          <a:xfrm>
            <a:off x="2827175" y="1522132"/>
            <a:ext cx="4219425" cy="2223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In, this we overall claim that </a:t>
            </a:r>
          </a:p>
          <a:p>
            <a:pPr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resultant power = 12.9434</a:t>
            </a:r>
          </a:p>
          <a:p>
            <a:pPr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resultant area= 65.262863</a:t>
            </a:r>
          </a:p>
          <a:p>
            <a:pPr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resultant timing SLACK(MET) =  0.34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99788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3E55C3-007E-53CD-5E7F-FC1AD3794A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53972" y="2900680"/>
            <a:ext cx="9226296" cy="1645920"/>
          </a:xfrm>
        </p:spPr>
        <p:txBody>
          <a:bodyPr>
            <a:normAutofit/>
          </a:bodyPr>
          <a:lstStyle/>
          <a:p>
            <a:pPr algn="ctr"/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 !</a:t>
            </a:r>
            <a:endParaRPr lang="en-IN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8199229"/>
      </p:ext>
    </p:extLst>
  </p:cSld>
  <p:clrMapOvr>
    <a:masterClrMapping/>
  </p:clrMapOvr>
</p:sld>
</file>

<file path=ppt/theme/theme1.xml><?xml version="1.0" encoding="utf-8"?>
<a:theme xmlns:a="http://schemas.openxmlformats.org/drawingml/2006/main" name="Metropolitan">
  <a:themeElements>
    <a:clrScheme name="Metropolitan">
      <a:dk1>
        <a:sysClr val="windowText" lastClr="000000"/>
      </a:dk1>
      <a:lt1>
        <a:sysClr val="window" lastClr="FFFFFF"/>
      </a:lt1>
      <a:dk2>
        <a:srgbClr val="162F33"/>
      </a:dk2>
      <a:lt2>
        <a:srgbClr val="EAF0E0"/>
      </a:lt2>
      <a:accent1>
        <a:srgbClr val="50B4C8"/>
      </a:accent1>
      <a:accent2>
        <a:srgbClr val="A8B97F"/>
      </a:accent2>
      <a:accent3>
        <a:srgbClr val="9B9256"/>
      </a:accent3>
      <a:accent4>
        <a:srgbClr val="657689"/>
      </a:accent4>
      <a:accent5>
        <a:srgbClr val="7A855D"/>
      </a:accent5>
      <a:accent6>
        <a:srgbClr val="84AC9D"/>
      </a:accent6>
      <a:hlink>
        <a:srgbClr val="2370CD"/>
      </a:hlink>
      <a:folHlink>
        <a:srgbClr val="877589"/>
      </a:folHlink>
    </a:clrScheme>
    <a:fontScheme name="Metropolitan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79CFCA13-9412-4290-BB4B-85112F88857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chipcraft</Template>
  <TotalTime>104</TotalTime>
  <Words>1205</Words>
  <Application>Microsoft Office PowerPoint</Application>
  <PresentationFormat>Widescreen</PresentationFormat>
  <Paragraphs>52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 Light</vt:lpstr>
      <vt:lpstr>Times New Roman</vt:lpstr>
      <vt:lpstr>Wingdings</vt:lpstr>
      <vt:lpstr>Metropolitan</vt:lpstr>
      <vt:lpstr>Smart Cold Storage Temperature Controller  Team 17: Digital Mafia</vt:lpstr>
      <vt:lpstr>PowerPoint Presentation</vt:lpstr>
      <vt:lpstr>PROPOSED SYSTEM     </vt:lpstr>
      <vt:lpstr>PowerPoint Presentation</vt:lpstr>
      <vt:lpstr>RTL CODING</vt:lpstr>
      <vt:lpstr>RTL CODING(cont) and SIMULATION</vt:lpstr>
      <vt:lpstr>SIMULATED WAVEFORMS</vt:lpstr>
      <vt:lpstr>RTL SYNTHESIS</vt:lpstr>
      <vt:lpstr>RESULTS</vt:lpstr>
      <vt:lpstr>RESULTS</vt:lpstr>
      <vt:lpstr>OPTIMITATION</vt:lpstr>
      <vt:lpstr>CONCLUSION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Nisanth s</dc:creator>
  <cp:lastModifiedBy>Nisanth s</cp:lastModifiedBy>
  <cp:revision>2</cp:revision>
  <dcterms:created xsi:type="dcterms:W3CDTF">2026-03-13T12:11:24Z</dcterms:created>
  <dcterms:modified xsi:type="dcterms:W3CDTF">2026-03-14T04:32:29Z</dcterms:modified>
</cp:coreProperties>
</file>